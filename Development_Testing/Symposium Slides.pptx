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4" r:id="rId3"/>
    <p:sldId id="262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77806" autoAdjust="0"/>
  </p:normalViewPr>
  <p:slideViewPr>
    <p:cSldViewPr snapToGrid="0" snapToObjects="1">
      <p:cViewPr varScale="1">
        <p:scale>
          <a:sx n="61" d="100"/>
          <a:sy n="61" d="100"/>
        </p:scale>
        <p:origin x="13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457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</a:t>
            </a:r>
            <a:r>
              <a:rPr lang="en-US" dirty="0" err="1"/>
              <a:t>pyg</a:t>
            </a:r>
            <a:r>
              <a:rPr lang="en-US" dirty="0"/>
              <a:t> data, just pick one grade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4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/>
          <a:lstStyle>
            <a:lvl1pPr algn="ctr">
              <a:defRPr sz="6000"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C94A93-148A-AE46-8073-6D5A023269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64824" y="4648416"/>
            <a:ext cx="2662351" cy="170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2017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DC64B-5CD5-7341-B6E0-9B4F677F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8467-A91D-B840-9781-A402C93E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6502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1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&amp;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E4E08E-A0D8-F06F-A91E-4D4A33081F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72200" y="364613"/>
            <a:ext cx="5181600" cy="1325563"/>
          </a:xfrm>
        </p:spPr>
        <p:txBody>
          <a:bodyPr anchor="ctr">
            <a:noAutofit/>
          </a:bodyPr>
          <a:lstStyle>
            <a:lvl1pPr marL="0" indent="0">
              <a:buNone/>
              <a:defRPr lang="en-US" sz="4400" kern="1200" cap="all" baseline="0" dirty="0" smtClean="0">
                <a:solidFill>
                  <a:schemeClr val="tx1"/>
                </a:solidFill>
                <a:latin typeface="Impact" panose="020B0806030902050204" pitchFamily="34" charset="0"/>
                <a:ea typeface="+mj-ea"/>
                <a:cs typeface="+mj-cs"/>
              </a:defRPr>
            </a:lvl1pPr>
            <a:lvl2pPr marL="457200" indent="0">
              <a:buNone/>
              <a:defRPr lang="en-US" sz="4400" kern="1200" cap="all" baseline="0" dirty="0" smtClean="0">
                <a:solidFill>
                  <a:schemeClr val="tx1"/>
                </a:solidFill>
                <a:latin typeface="Impact" panose="020B0806030902050204" pitchFamily="34" charset="0"/>
                <a:ea typeface="+mj-ea"/>
                <a:cs typeface="+mj-cs"/>
              </a:defRPr>
            </a:lvl2pPr>
            <a:lvl3pPr marL="914400" indent="0">
              <a:buNone/>
              <a:defRPr lang="en-US" sz="4400" kern="1200" cap="all" baseline="0" dirty="0" smtClean="0">
                <a:solidFill>
                  <a:schemeClr val="tx1"/>
                </a:solidFill>
                <a:latin typeface="Impact" panose="020B0806030902050204" pitchFamily="34" charset="0"/>
                <a:ea typeface="+mj-ea"/>
                <a:cs typeface="+mj-cs"/>
              </a:defRPr>
            </a:lvl3pPr>
            <a:lvl4pPr marL="1371600" indent="0">
              <a:buNone/>
              <a:defRPr lang="en-US" sz="4400" kern="1200" cap="all" baseline="0" dirty="0" smtClean="0">
                <a:solidFill>
                  <a:schemeClr val="tx1"/>
                </a:solidFill>
                <a:latin typeface="Impact" panose="020B0806030902050204" pitchFamily="34" charset="0"/>
                <a:ea typeface="+mj-ea"/>
                <a:cs typeface="+mj-cs"/>
              </a:defRPr>
            </a:lvl4pPr>
            <a:lvl5pPr marL="1828800" indent="0">
              <a:buNone/>
              <a:defRPr lang="en-US" sz="4400" kern="1200" cap="all" baseline="0" dirty="0">
                <a:solidFill>
                  <a:schemeClr val="tx1"/>
                </a:solidFill>
                <a:latin typeface="Impact" panose="020B080603090205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2</a:t>
            </a:r>
          </a:p>
        </p:txBody>
      </p:sp>
    </p:spTree>
    <p:extLst>
      <p:ext uri="{BB962C8B-B14F-4D97-AF65-F5344CB8AC3E}">
        <p14:creationId xmlns:p14="http://schemas.microsoft.com/office/powerpoint/2010/main" val="176551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E802-B46A-204D-94D4-E50D913A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7812B-2A55-D049-A1C2-A4C973AC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8766B-6B24-3B45-B55F-3D85F881F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9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7F728-2418-1540-9191-5FDFA36D8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48585-BFC1-9148-A0B5-07C83C2F2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9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371BF-1A9F-5641-95DB-6C0FE67B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21846-D4EB-5949-B8F3-E4009916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283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B31740-95C8-F043-8662-462E99095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6314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991BC-E157-B340-860E-81A4EBD0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805CF-1707-5749-8109-20FA4495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0564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46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54A1-6207-5141-AAB1-9A7630DA9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515B1-8A32-AB43-82F2-51A60BC2E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F95B-0887-9F4F-BA1C-0B9CBE5AE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D973-68F9-5B46-A3D8-B7AF20B0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68CE-A588-FE4D-9C1E-5BE4A1A8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3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5185-7056-B946-8F27-7890BB2A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AF3B6-3151-9346-B00D-EBED7ED75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EF208-3C62-3840-A816-A69F27E0B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C1DD0-6624-6048-953E-41055A0D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C492C-9027-2B43-9637-56046A06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6896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0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56521"/>
            <a:ext cx="10515600" cy="2187986"/>
          </a:xfrm>
        </p:spPr>
        <p:txBody>
          <a:bodyPr anchor="t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Email</a:t>
            </a: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E3F6D031-9575-F9E5-8F88-7DCF6FFE05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65764" y="5618042"/>
            <a:ext cx="42291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4465F2-968A-EE4E-9695-9CDDCF7ADC4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8610600" y="5952641"/>
            <a:ext cx="2977427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9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77/0013164414548894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Edsamplr</a:t>
            </a:r>
            <a:r>
              <a:rPr lang="en-US" dirty="0"/>
              <a:t>: simulating data for statistics instruction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A461-863C-424F-BAE7-45F2ACA74C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Keah Tandon &amp; Michael A. Seaman</a:t>
            </a:r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020BFE3-A98A-367F-F9F2-B1E69858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DC5CFF-1ED6-8425-1818-CE9AC5403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37527"/>
            <a:ext cx="5181600" cy="4043761"/>
          </a:xfrm>
        </p:spPr>
        <p:txBody>
          <a:bodyPr/>
          <a:lstStyle/>
          <a:p>
            <a:r>
              <a:rPr lang="en-US" dirty="0"/>
              <a:t>Students seek quantitative research training</a:t>
            </a:r>
          </a:p>
          <a:p>
            <a:r>
              <a:rPr lang="en-US" dirty="0"/>
              <a:t>Ideally includes</a:t>
            </a:r>
          </a:p>
          <a:p>
            <a:pPr lvl="1"/>
            <a:r>
              <a:rPr lang="en-US" dirty="0"/>
              <a:t>Real research</a:t>
            </a:r>
          </a:p>
          <a:p>
            <a:pPr lvl="1"/>
            <a:r>
              <a:rPr lang="en-US" dirty="0"/>
              <a:t>Conditions for valid inference</a:t>
            </a:r>
          </a:p>
          <a:p>
            <a:pPr lvl="1"/>
            <a:r>
              <a:rPr lang="en-US" dirty="0"/>
              <a:t>Variety of distributional shapes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8D83B28-B561-429A-E511-0B7C5CFA3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37527"/>
            <a:ext cx="5181600" cy="4043761"/>
          </a:xfrm>
        </p:spPr>
        <p:txBody>
          <a:bodyPr/>
          <a:lstStyle/>
          <a:p>
            <a:r>
              <a:rPr lang="en-US" dirty="0"/>
              <a:t>Finding data difficult</a:t>
            </a:r>
          </a:p>
          <a:p>
            <a:r>
              <a:rPr lang="en-US" dirty="0"/>
              <a:t>Data not always available</a:t>
            </a:r>
          </a:p>
          <a:p>
            <a:r>
              <a:rPr lang="en-US" dirty="0"/>
              <a:t>Need multiple data sets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B44E9B-B96D-EF70-58B0-EA1996A87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14941A9-D6C8-B5F4-FE8C-4B51DA9ED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44" y="4310969"/>
            <a:ext cx="5105192" cy="18232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AEF11CC-9A4C-1A7A-F57A-72004A8AC9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6943988" y="3866405"/>
            <a:ext cx="1216767" cy="21985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26788AA-9E7B-4C60-158D-0DE73AF7AC8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8313155" y="3367487"/>
            <a:ext cx="1208137" cy="220560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C6859F-A23A-321E-04A8-94F9647DBA5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9673692" y="3375686"/>
            <a:ext cx="1221082" cy="219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0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1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C4CB-F76A-D8A6-FCF8-F5FC5CBA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E66C1-76BC-6390-2E66-28513917DC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  <a:p>
            <a:pPr lvl="1"/>
            <a:r>
              <a:rPr lang="en-US" dirty="0"/>
              <a:t>Categorical</a:t>
            </a:r>
          </a:p>
          <a:p>
            <a:pPr lvl="1"/>
            <a:r>
              <a:rPr lang="en-US" dirty="0"/>
              <a:t>Quantitative</a:t>
            </a:r>
          </a:p>
          <a:p>
            <a:pPr lvl="1"/>
            <a:r>
              <a:rPr lang="en-US" dirty="0"/>
              <a:t>Correlated</a:t>
            </a:r>
          </a:p>
          <a:p>
            <a:pPr lvl="1"/>
            <a:r>
              <a:rPr lang="en-US" dirty="0"/>
              <a:t>Matched pairs</a:t>
            </a:r>
          </a:p>
          <a:p>
            <a:r>
              <a:rPr lang="en-US" dirty="0"/>
              <a:t>Named distributions</a:t>
            </a:r>
          </a:p>
          <a:p>
            <a:r>
              <a:rPr lang="en-US" dirty="0"/>
              <a:t>Summary statistics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010A6F-8B06-09DF-4657-1252F02FD4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 package</a:t>
            </a:r>
          </a:p>
          <a:p>
            <a:r>
              <a:rPr lang="en-US" dirty="0"/>
              <a:t>Uses Headrick’s fifth-order polynomial method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DE57A0-EBE5-E1CD-EC1F-7677A0ED8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Technical Details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EFAC3-364D-FE46-52C0-B1A725F6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59" t="11555" r="15926" b="11111"/>
          <a:stretch/>
        </p:blipFill>
        <p:spPr>
          <a:xfrm>
            <a:off x="5670813" y="4504231"/>
            <a:ext cx="2269227" cy="175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9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98AC8A29-22A3-ECED-63CB-06021BD98A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19595" r="10294"/>
          <a:stretch/>
        </p:blipFill>
        <p:spPr>
          <a:xfrm>
            <a:off x="383974" y="1406370"/>
            <a:ext cx="5813626" cy="39030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506F4EF-18B9-0452-39BE-003A4D58A6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b="23915"/>
          <a:stretch/>
        </p:blipFill>
        <p:spPr>
          <a:xfrm>
            <a:off x="8519160" y="1060169"/>
            <a:ext cx="2587826" cy="43687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screenshot of a graph&#10;&#10;Description automatically generated">
            <a:extLst>
              <a:ext uri="{FF2B5EF4-FFF2-40B4-BE49-F238E27FC236}">
                <a16:creationId xmlns:a16="http://schemas.microsoft.com/office/drawing/2014/main" id="{3226332B-1B1E-72F3-E592-79F7B439E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4017" y="2731933"/>
            <a:ext cx="3330229" cy="35207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58823-60C3-05AF-22FE-FD41F0EAA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65125"/>
            <a:ext cx="11220450" cy="1325563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6488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4FC6-FE3D-7B45-84BE-3C726AB1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0" y="365125"/>
            <a:ext cx="10515600" cy="910068"/>
          </a:xfrm>
        </p:spPr>
        <p:txBody>
          <a:bodyPr>
            <a:normAutofit/>
          </a:bodyPr>
          <a:lstStyle/>
          <a:p>
            <a:r>
              <a:rPr lang="en-US" sz="4400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73F4-C73D-8C4A-8929-A707A3759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Keah Tandon</a:t>
            </a:r>
          </a:p>
          <a:p>
            <a:r>
              <a:rPr lang="en-US" dirty="0"/>
              <a:t>Data Analyst, SAAS Academic Assessment</a:t>
            </a:r>
          </a:p>
          <a:p>
            <a:r>
              <a:rPr lang="en-US" dirty="0"/>
              <a:t>PhD Student, Educational Psychology and Research</a:t>
            </a:r>
          </a:p>
          <a:p>
            <a:r>
              <a:rPr lang="en-US" dirty="0"/>
              <a:t>tandonk@mailbox.sc.edu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BDF343B-8AE0-525E-ED81-3C318279CA7D}"/>
              </a:ext>
            </a:extLst>
          </p:cNvPr>
          <p:cNvSpPr txBox="1">
            <a:spLocks/>
          </p:cNvSpPr>
          <p:nvPr/>
        </p:nvSpPr>
        <p:spPr>
          <a:xfrm>
            <a:off x="831850" y="1275193"/>
            <a:ext cx="10515600" cy="3317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en-US" dirty="0"/>
              <a:t>Fleishman, A. I. (1978). A method for simulating non-normal distributions. </a:t>
            </a:r>
            <a:r>
              <a:rPr lang="en-US" i="1" dirty="0"/>
              <a:t>Psychometrika, 43</a:t>
            </a:r>
            <a:r>
              <a:rPr lang="en-US" dirty="0"/>
              <a:t>(4), 521-532.</a:t>
            </a:r>
          </a:p>
          <a:p>
            <a:pPr marL="457200" indent="-457200">
              <a:lnSpc>
                <a:spcPct val="120000"/>
              </a:lnSpc>
            </a:pPr>
            <a:r>
              <a:rPr lang="en-US" dirty="0"/>
              <a:t>Headrick, T. C. (2002). Fast fifth-order polynomial transforms for generating univariate and multivariate nonnormal distributions. </a:t>
            </a:r>
            <a:r>
              <a:rPr lang="en-US" i="1" dirty="0"/>
              <a:t>Computational Statistics &amp; Data Analysis, 40</a:t>
            </a:r>
            <a:r>
              <a:rPr lang="en-US" dirty="0"/>
              <a:t>, 685-711.</a:t>
            </a:r>
          </a:p>
          <a:p>
            <a:pPr marL="457200" indent="-457200">
              <a:lnSpc>
                <a:spcPct val="120000"/>
              </a:lnSpc>
            </a:pPr>
            <a:r>
              <a:rPr lang="en-US" dirty="0"/>
              <a:t>Olvera Astivia, O. L., &amp; </a:t>
            </a:r>
            <a:r>
              <a:rPr lang="en-US" dirty="0" err="1"/>
              <a:t>Zumbo</a:t>
            </a:r>
            <a:r>
              <a:rPr lang="en-US" dirty="0"/>
              <a:t>, B. D. (2015). A cautionary note on the use of the Vale and </a:t>
            </a:r>
            <a:r>
              <a:rPr lang="en-US" dirty="0" err="1"/>
              <a:t>Maurelli</a:t>
            </a:r>
            <a:r>
              <a:rPr lang="en-US" dirty="0"/>
              <a:t> method to generate multivariate, nonnormal data for simulation purposes. </a:t>
            </a:r>
            <a:r>
              <a:rPr lang="en-US" i="1" dirty="0"/>
              <a:t>Educational and Psychological Measurement, 75</a:t>
            </a:r>
            <a:r>
              <a:rPr lang="en-US" dirty="0"/>
              <a:t>(4), 541-567. </a:t>
            </a:r>
            <a:r>
              <a:rPr lang="en-US" dirty="0">
                <a:hlinkClick r:id="rId2"/>
              </a:rPr>
              <a:t>https://doi.org/10.1177/0013164414548894</a:t>
            </a:r>
            <a:endParaRPr lang="en-US" dirty="0"/>
          </a:p>
          <a:p>
            <a:pPr marL="457200" indent="-457200">
              <a:lnSpc>
                <a:spcPct val="120000"/>
              </a:lnSpc>
            </a:pPr>
            <a:r>
              <a:rPr lang="en-US" dirty="0"/>
              <a:t>Rosenthal, R., &amp; Jacobson, L. (1968). Pygmalion in the classroom. </a:t>
            </a:r>
            <a:r>
              <a:rPr lang="en-US" i="1" dirty="0"/>
              <a:t>The Urban Review, 3</a:t>
            </a:r>
            <a:r>
              <a:rPr lang="en-US" dirty="0"/>
              <a:t>, 16-20.</a:t>
            </a:r>
          </a:p>
        </p:txBody>
      </p:sp>
    </p:spTree>
    <p:extLst>
      <p:ext uri="{BB962C8B-B14F-4D97-AF65-F5344CB8AC3E}">
        <p14:creationId xmlns:p14="http://schemas.microsoft.com/office/powerpoint/2010/main" val="3387642774"/>
      </p:ext>
    </p:extLst>
  </p:cSld>
  <p:clrMapOvr>
    <a:masterClrMapping/>
  </p:clrMapOvr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sc_education_powerpoint" id="{8FFF9133-D850-A641-912F-B0538B48B5E4}" vid="{6BE82F67-E7EF-7346-A551-59D4837DA8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usc_education_powerpoint</Template>
  <TotalTime>3219</TotalTime>
  <Words>231</Words>
  <Application>Microsoft Office PowerPoint</Application>
  <PresentationFormat>Widescreen</PresentationFormat>
  <Paragraphs>35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Impact</vt:lpstr>
      <vt:lpstr>UofSC Simple Theme</vt:lpstr>
      <vt:lpstr>Edsamplr: simulating data for statistics instruction</vt:lpstr>
      <vt:lpstr>Introduction</vt:lpstr>
      <vt:lpstr>Features</vt:lpstr>
      <vt:lpstr>Example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Tandon, Keah</dc:creator>
  <cp:lastModifiedBy>Tandon, Keah</cp:lastModifiedBy>
  <cp:revision>8</cp:revision>
  <dcterms:created xsi:type="dcterms:W3CDTF">2025-01-22T18:05:21Z</dcterms:created>
  <dcterms:modified xsi:type="dcterms:W3CDTF">2025-02-04T13:21:33Z</dcterms:modified>
</cp:coreProperties>
</file>